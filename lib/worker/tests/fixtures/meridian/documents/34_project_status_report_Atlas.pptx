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c1a8b2ad3a4874" /><Relationship Type="http://schemas.openxmlformats.org/officeDocument/2006/relationships/extended-properties" Target="/docProps/app.xml" Id="R4597ad51bf864f2d" /><Relationship Type="http://schemas.openxmlformats.org/officeDocument/2006/relationships/officeDocument" Target="/ppt/presentation.xml" Id="R15c9e077674a4d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e7e3f719d4be7"/>
  </p:sldMasterIdLst>
  <p:notesMasterIdLst>
    <p:notesMasterId xmlns:r="http://schemas.openxmlformats.org/officeDocument/2006/relationships" r:id="R35f24e9624624178"/>
  </p:notesMasterIdLst>
  <p:sldIdLst>
    <p:sldId xmlns:r="http://schemas.openxmlformats.org/officeDocument/2006/relationships" id="256" r:id="Rd4cec62046314516"/>
    <p:sldId xmlns:r="http://schemas.openxmlformats.org/officeDocument/2006/relationships" id="257" r:id="R3d07d600b1e44099"/>
    <p:sldId xmlns:r="http://schemas.openxmlformats.org/officeDocument/2006/relationships" id="258" r:id="R3f03af576ec14e3d"/>
    <p:sldId xmlns:r="http://schemas.openxmlformats.org/officeDocument/2006/relationships" id="259" r:id="Rb4da46e0144540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ea53a6ab4a4420" /><Relationship Type="http://schemas.openxmlformats.org/officeDocument/2006/relationships/slideMaster" Target="/ppt/slideMasters/slideMaster1.xml" Id="Rad5e7e3f719d4be7" /><Relationship Type="http://schemas.openxmlformats.org/officeDocument/2006/relationships/notesMaster" Target="/ppt/notesMasters/notesMaster1.xml" Id="R35f24e9624624178" /><Relationship Type="http://schemas.openxmlformats.org/officeDocument/2006/relationships/presProps" Target="/ppt/presProps.xml" Id="Rd641a0916a804959" /><Relationship Type="http://schemas.openxmlformats.org/officeDocument/2006/relationships/tableStyles" Target="/ppt/tableStyles.xml" Id="R401b6e726a4444ce" /><Relationship Type="http://schemas.openxmlformats.org/officeDocument/2006/relationships/slide" Target="/ppt/slides/slide1.xml" Id="Rd4cec62046314516" /><Relationship Type="http://schemas.openxmlformats.org/officeDocument/2006/relationships/slide" Target="/ppt/slides/slide2.xml" Id="R3d07d600b1e44099" /><Relationship Type="http://schemas.openxmlformats.org/officeDocument/2006/relationships/slide" Target="/ppt/slides/slide3.xml" Id="R3f03af576ec14e3d" /><Relationship Type="http://schemas.openxmlformats.org/officeDocument/2006/relationships/slide" Target="/ppt/slides/slide4.xml" Id="Rb4da46e0144540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84aab6b24141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878663e2e40dd" /><Relationship Type="http://schemas.openxmlformats.org/officeDocument/2006/relationships/notesMaster" Target="/ppt/notesMasters/notesMaster1.xml" Id="R6607fa6b6c60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677bc155794dea" /><Relationship Type="http://schemas.openxmlformats.org/officeDocument/2006/relationships/notesMaster" Target="/ppt/notesMasters/notesMaster1.xml" Id="R3ce9a5d41c0b42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4889deb2f946ce" /><Relationship Type="http://schemas.openxmlformats.org/officeDocument/2006/relationships/notesMaster" Target="/ppt/notesMasters/notesMaster1.xml" Id="Rda6c84800cea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d0d740daaf472c" /><Relationship Type="http://schemas.openxmlformats.org/officeDocument/2006/relationships/notesMaster" Target="/ppt/notesMasters/notesMaster1.xml" Id="R2e9f8e72a4734b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297fdfdb54c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b5b9235214939" /><Relationship Type="http://schemas.openxmlformats.org/officeDocument/2006/relationships/slideLayout" Target="/ppt/slideLayouts/slideLayout1.xml" Id="R7b12b80512e44e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12b80512e44e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7c8eb50af4860" /><Relationship Type="http://schemas.openxmlformats.org/officeDocument/2006/relationships/notesSlide" Target="/ppt/notesSlides/notesSlide1.xml" Id="R1856911b9654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8e05c05344370" /><Relationship Type="http://schemas.openxmlformats.org/officeDocument/2006/relationships/notesSlide" Target="/ppt/notesSlides/notesSlide2.xml" Id="R2a09457e272b47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cb0878e9d42e9" /><Relationship Type="http://schemas.openxmlformats.org/officeDocument/2006/relationships/notesSlide" Target="/ppt/notesSlides/notesSlide3.xml" Id="R7b31ae2822ff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b875ec29747c8" /><Relationship Type="http://schemas.openxmlformats.org/officeDocument/2006/relationships/notesSlide" Target="/ppt/notesSlides/notesSlide4.xml" Id="R6988a43ea5e94c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0738C5-84A6-48E8-BB50-162525F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7706E"/>
                </a:solidFill>
              </a:defRPr>
            </a:pPr>
            <a:r>
              <a:rPr sz="900" b="1">
                <a:solidFill>
                  <a:srgbClr val="57706E"/>
                </a:solidFill>
              </a:rPr>
              <a:t>MERIDIAN INDUSTRIAL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1121F-02AA-4392-9300-48D145E4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PROJECT ATLAS • 25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56A10-ECFD-42CC-A974-9EE8752E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6D4CC-F003-4CD3-97CA-9E808F69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23B3A"/>
                </a:solidFill>
              </a:defRPr>
            </a:pPr>
            <a:r>
              <a:rPr sz="3750" b="1">
                <a:solidFill>
                  <a:srgbClr val="123B3A"/>
                </a:solidFill>
              </a:rPr>
              <a:t>Project Atlas is AMBER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0B3E8-BB8E-482F-80CF-809A80BD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B6462"/>
                </a:solidFill>
              </a:defRPr>
            </a:pPr>
            <a:r>
              <a:rPr sz="1800" b="0">
                <a:solidFill>
                  <a:srgbClr val="4B6462"/>
                </a:solidFill>
              </a:rPr>
              <a:t>Customer-context platform rollout</a:t>
            </a:r>
          </a:p>
          <a:p xmlns:a="http://schemas.openxmlformats.org/drawingml/2006/main">
            <a:pPr>
              <a:defRPr sz="1800" b="0">
                <a:solidFill>
                  <a:srgbClr val="4B6462"/>
                </a:solidFill>
              </a:defRPr>
            </a:pPr>
            <a:r>
              <a:rPr sz="1800" b="0">
                <a:solidFill>
                  <a:srgbClr val="4B6462"/>
                </a:solidFill>
              </a:rPr>
              <a:t>Status report • PRJ-ATLAS-26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46218-3386-4DC9-A907-50EAEC80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3B3A"/>
          </a:solidFill>
          <a:ln xmlns:a="http://schemas.openxmlformats.org/drawingml/2006/main" w="9525">
            <a:solidFill>
              <a:srgbClr val="123B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014A4-C63A-49F8-8F2B-7F05551C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46E06-1E54-411D-969A-0C1BBACB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EBE8"/>
                </a:solidFill>
              </a:defRPr>
            </a:pPr>
            <a:r>
              <a:rPr sz="1350" b="0">
                <a:solidFill>
                  <a:srgbClr val="DDEBE8"/>
                </a:solidFill>
              </a:rPr>
              <a:t>Board attention</a:t>
            </a:r>
          </a:p>
          <a:p xmlns:a="http://schemas.openxmlformats.org/drawingml/2006/main">
            <a:pPr>
              <a:defRPr sz="1350" b="0">
                <a:solidFill>
                  <a:srgbClr val="DDEBE8"/>
                </a:solidFill>
              </a:defRPr>
            </a:pPr>
            <a:r>
              <a:rPr sz="1350" b="0">
                <a:solidFill>
                  <a:srgbClr val="DDEBE8"/>
                </a:solidFill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B8965-E5CF-416F-82C2-83419435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706E"/>
                </a:solidFill>
              </a:defRPr>
            </a:pPr>
            <a:r>
              <a:rPr sz="1200" b="0">
                <a:solidFill>
                  <a:srgbClr val="57706E"/>
                </a:solidFill>
              </a:rPr>
              <a:t>Owner: Peter Molefe (EMP-009) • Sponsor: Thandi Ndlovu (EMP-003)</a:t>
            </a:r>
          </a:p>
        </p:txBody>
      </p:sp>
    </p:spTree>
    <p:extLst>
      <p:ext uri="{BB962C8B-B14F-4D97-AF65-F5344CB8AC3E}">
        <p14:creationId xmlns:p14="http://schemas.microsoft.com/office/powerpoint/2010/main" val="1709658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21FF8-6FC5-4DC7-A2F9-56336CD3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7706E"/>
                </a:solidFill>
              </a:defRPr>
            </a:pPr>
            <a:r>
              <a:rPr sz="900" b="1">
                <a:solidFill>
                  <a:srgbClr val="57706E"/>
                </a:solidFill>
              </a:rPr>
              <a:t>MERIDIAN INDUSTRIAL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567DA-A2C4-43A2-8482-A737375C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C7615-5C78-434A-AD11-FAF21578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129BA-D5FC-4E38-9979-04DEC3CE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3A"/>
                </a:solidFill>
              </a:defRPr>
            </a:pPr>
            <a:r>
              <a:rPr sz="2700" b="1">
                <a:solidFill>
                  <a:srgbClr val="123B3A"/>
                </a:solidFill>
              </a:rPr>
              <a:t>Core build is 72% complete, but integration is two weeks at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0EF21-7AD3-4A8C-BFEF-7CD9608C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2FE28-F9AE-4DA5-8BC9-56BD10CE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3A"/>
                </a:solidFill>
              </a:defRPr>
            </a:pPr>
            <a:r>
              <a:rPr sz="2550" b="1">
                <a:solidFill>
                  <a:srgbClr val="123B3A"/>
                </a:solidFill>
              </a:rPr>
              <a:t>72%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9973C-BB86-447C-8AE9-3BDF9595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06E"/>
                </a:solidFill>
              </a:defRPr>
            </a:pPr>
            <a:r>
              <a:rPr sz="1350" b="0">
                <a:solidFill>
                  <a:srgbClr val="57706E"/>
                </a:solidFill>
              </a:rPr>
              <a:t>overall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10D94-1B17-4E4A-8731-6DBB27F3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306EE-670E-4FA2-8076-9A7A94E0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003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3A"/>
                </a:solidFill>
              </a:defRPr>
            </a:pPr>
            <a:r>
              <a:rPr sz="2550" b="1">
                <a:solidFill>
                  <a:srgbClr val="123B3A"/>
                </a:solidFill>
              </a:rPr>
              <a:t>14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2C75E-E5F8-49B3-8B91-1E73F4A4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06E"/>
                </a:solidFill>
              </a:defRPr>
            </a:pPr>
            <a:r>
              <a:rPr sz="1350" b="0">
                <a:solidFill>
                  <a:srgbClr val="57706E"/>
                </a:solidFill>
              </a:rPr>
              <a:t>schedule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329CA-C2F7-4885-995F-EF34BA32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41F68-6534-4DC6-B394-A980097A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03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ZAR 180k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C7172-C439-418A-AD74-3473F408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194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06E"/>
                </a:solidFill>
              </a:defRPr>
            </a:pPr>
            <a:r>
              <a:rPr sz="1350" b="0">
                <a:solidFill>
                  <a:srgbClr val="57706E"/>
                </a:solidFill>
              </a:rPr>
              <a:t>forecast overrun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15E2D-59F7-4215-AF69-6CC90DFB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3A"/>
                </a:solidFill>
              </a:defRPr>
            </a:pPr>
            <a:r>
              <a:rPr sz="1650" b="1">
                <a:solidFill>
                  <a:srgbClr val="123B3A"/>
                </a:solidFill>
              </a:rPr>
              <a:t>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DCC9C-06AE-4085-B733-5E827E8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E4B"/>
                </a:solidFill>
              </a:defRPr>
            </a:pPr>
            <a:r>
              <a:rPr sz="1350" b="0">
                <a:solidFill>
                  <a:srgbClr val="334E4B"/>
                </a:solidFill>
              </a:rPr>
              <a:t>• Document ingestion API</a:t>
            </a:r>
          </a:p>
          <a:p xmlns:a="http://schemas.openxmlformats.org/drawingml/2006/main">
            <a:pPr>
              <a:defRPr sz="1350" b="0">
                <a:solidFill>
                  <a:srgbClr val="334E4B"/>
                </a:solidFill>
              </a:defRPr>
            </a:pPr>
            <a:r>
              <a:rPr sz="1350" b="0">
                <a:solidFill>
                  <a:srgbClr val="334E4B"/>
                </a:solidFill>
              </a:rPr>
              <a:t>• Invoice and proof-of-payment tokenizers</a:t>
            </a:r>
          </a:p>
          <a:p xmlns:a="http://schemas.openxmlformats.org/drawingml/2006/main">
            <a:pPr>
              <a:defRPr sz="1350" b="0">
                <a:solidFill>
                  <a:srgbClr val="334E4B"/>
                </a:solidFill>
              </a:defRPr>
            </a:pPr>
            <a:r>
              <a:rPr sz="1350" b="0">
                <a:solidFill>
                  <a:srgbClr val="334E4B"/>
                </a:solidFill>
              </a:rPr>
              <a:t>• Ontology persistence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AB24D-9690-4FAA-83F9-B8E3DCA4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At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FDFBB-A183-4820-AB03-07A5BCDC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E4B"/>
                </a:solidFill>
              </a:defRPr>
            </a:pPr>
            <a:r>
              <a:rPr sz="1350" b="0">
                <a:solidFill>
                  <a:srgbClr val="334E4B"/>
                </a:solidFill>
              </a:rPr>
              <a:t>• Approval-policy effective dating</a:t>
            </a:r>
          </a:p>
          <a:p xmlns:a="http://schemas.openxmlformats.org/drawingml/2006/main">
            <a:pPr>
              <a:defRPr sz="1350" b="0">
                <a:solidFill>
                  <a:srgbClr val="334E4B"/>
                </a:solidFill>
              </a:defRPr>
            </a:pPr>
            <a:r>
              <a:rPr sz="1350" b="0">
                <a:solidFill>
                  <a:srgbClr val="334E4B"/>
                </a:solidFill>
              </a:rPr>
              <a:t>• Contract-to-policy conflict handling</a:t>
            </a:r>
          </a:p>
          <a:p xmlns:a="http://schemas.openxmlformats.org/drawingml/2006/main">
            <a:pPr>
              <a:defRPr sz="1350" b="0">
                <a:solidFill>
                  <a:srgbClr val="334E4B"/>
                </a:solidFill>
              </a:defRPr>
            </a:pPr>
            <a:r>
              <a:rPr sz="1350" b="0">
                <a:solidFill>
                  <a:srgbClr val="334E4B"/>
                </a:solidFill>
              </a:rPr>
              <a:t>• Data-quality review workflow</a:t>
            </a:r>
          </a:p>
        </p:txBody>
      </p:sp>
    </p:spTree>
    <p:extLst>
      <p:ext uri="{BB962C8B-B14F-4D97-AF65-F5344CB8AC3E}">
        <p14:creationId xmlns:p14="http://schemas.microsoft.com/office/powerpoint/2010/main" val="535302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B80653-EA7B-4C84-81A8-93E8D97F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7706E"/>
                </a:solidFill>
              </a:defRPr>
            </a:pPr>
            <a:r>
              <a:rPr sz="900" b="1">
                <a:solidFill>
                  <a:srgbClr val="57706E"/>
                </a:solidFill>
              </a:rPr>
              <a:t>MERIDIAN INDUSTRIAL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0765B-270D-4B71-82B6-C641AEF7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DEPENDENCIES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0465C-FAC8-4A2E-91C4-DEC6D778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423EB-C1D2-426C-8957-E844B611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3A"/>
                </a:solidFill>
              </a:defRPr>
            </a:pPr>
            <a:r>
              <a:rPr sz="2700" b="1">
                <a:solidFill>
                  <a:srgbClr val="123B3A"/>
                </a:solidFill>
              </a:rPr>
              <a:t>Four linked records define the launch-critical control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318E2-C5AC-40B4-8DC4-52CD07B3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A4732-8E3C-4046-A867-A729589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A"/>
                </a:solidFill>
              </a:defRPr>
            </a:pPr>
            <a:r>
              <a:rPr sz="1575" b="1">
                <a:solidFill>
                  <a:srgbClr val="123B3A"/>
                </a:solidFill>
              </a:rPr>
              <a:t>PO-2026-00418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D7129-06BF-4191-B710-18726102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ZAR 254,380</a:t>
            </a:r>
          </a:p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Manager-only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6E304-36A7-4E80-8E56-A537C574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33625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E4DEC-D0B1-4DCC-BA90-8616875C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A"/>
                </a:solidFill>
              </a:defRPr>
            </a:pPr>
            <a:r>
              <a:rPr sz="1575" b="1">
                <a:solidFill>
                  <a:srgbClr val="123B3A"/>
                </a:solidFill>
              </a:rPr>
              <a:t>SI-USW-7719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2BDFC-5A24-4E21-A04E-B9D52621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ZAR 269,560</a:t>
            </a:r>
          </a:p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Variance ZAR 15,180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4139C-6859-44A5-99C6-A31618F9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DFCC2-0892-4720-B1A0-66699633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193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A"/>
                </a:solidFill>
              </a:defRPr>
            </a:pPr>
            <a:r>
              <a:rPr sz="1575" b="1">
                <a:solidFill>
                  <a:srgbClr val="123B3A"/>
                </a:solidFill>
              </a:rPr>
              <a:t>AF-2026-09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AA515-25A0-42E6-99EB-ABBF7648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HIGH finding</a:t>
            </a:r>
          </a:p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Due 31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75A89-2704-446C-9093-A1E8F9E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33625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BCDF4-B99C-4191-A1F6-CDD03413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A"/>
                </a:solidFill>
              </a:defRPr>
            </a:pPr>
            <a:r>
              <a:rPr sz="1575" b="1">
                <a:solidFill>
                  <a:srgbClr val="123B3A"/>
                </a:solidFill>
              </a:rPr>
              <a:t>BR-2026-14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50ADF-74AD-4BCB-816F-53A40897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Limit changes</a:t>
            </a:r>
          </a:p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01 Aug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B9203-EB75-4D49-BE52-8DD98064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C2D12"/>
                </a:solidFill>
              </a:defRPr>
            </a:pPr>
            <a:r>
              <a:rPr sz="1650" b="1">
                <a:solidFill>
                  <a:srgbClr val="7C2D12"/>
                </a:solidFill>
              </a:rPr>
              <a:t>Launch gate: Orgni must preserve evidence, detect the breach, and apply the board resolution prospectively—not retroactively.</a:t>
            </a:r>
          </a:p>
        </p:txBody>
      </p:sp>
    </p:spTree>
    <p:extLst>
      <p:ext uri="{BB962C8B-B14F-4D97-AF65-F5344CB8AC3E}">
        <p14:creationId xmlns:p14="http://schemas.microsoft.com/office/powerpoint/2010/main" val="614320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CFBF3-B335-4C9C-961C-3BE0B133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7706E"/>
                </a:solidFill>
              </a:defRPr>
            </a:pPr>
            <a:r>
              <a:rPr sz="900" b="1">
                <a:solidFill>
                  <a:srgbClr val="57706E"/>
                </a:solidFill>
              </a:rPr>
              <a:t>MERIDIAN INDUSTRIAL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61460-317E-4BAB-95C9-F60EAECC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NEXT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312C6-26EE-474E-A845-81D1353B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7B380-60EC-42A3-ACFE-808712C4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A"/>
                </a:solidFill>
              </a:defRPr>
            </a:pPr>
            <a:r>
              <a:rPr sz="2925" b="1">
                <a:solidFill>
                  <a:srgbClr val="123B3A"/>
                </a:solidFill>
              </a:rPr>
              <a:t>Hold launch until trustworthy-context gates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43C26-209E-46B1-9EB1-D6E02C9A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FBB29-59DD-430A-8440-D72C1265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3A"/>
                </a:solidFill>
              </a:defRPr>
            </a:pPr>
            <a:r>
              <a:rPr sz="1500" b="1">
                <a:solidFill>
                  <a:srgbClr val="123B3A"/>
                </a:solidFill>
              </a:rPr>
              <a:t>Entity resolution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4476-1BA4-42CD-A692-3120407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431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Resolve Ubuntu’s three aliases without merging Eastern Bearings.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9B6C1-B301-4BAE-B94B-4893B70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3863A-B8C4-4D3E-92B9-E033D78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3A"/>
                </a:solidFill>
              </a:defRPr>
            </a:pPr>
            <a:r>
              <a:rPr sz="1500" b="1">
                <a:solidFill>
                  <a:srgbClr val="123B3A"/>
                </a:solidFill>
              </a:rPr>
              <a:t>Policy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674DC-F0DF-4CAE-9D24-7F5AC2E6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Detect PO authority breach and agreement-policy conflict.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885F2-A098-439D-B02E-3336EBE8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AFE73-E53C-41A7-857C-692AC97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3A"/>
                </a:solidFill>
              </a:defRPr>
            </a:pPr>
            <a:r>
              <a:rPr sz="1500" b="1">
                <a:solidFill>
                  <a:srgbClr val="123B3A"/>
                </a:solidFill>
              </a:rPr>
              <a:t>Temporal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4D118-5FE0-4853-97F5-6D596A32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5287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Keep FL-07 correction and 01 Aug authority change effective-dated.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9E948-C8E7-4A24-B774-CAF4F1DA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FDB49-ADDB-419B-950C-A0432F75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3A"/>
                </a:solidFill>
              </a:defRPr>
            </a:pPr>
            <a:r>
              <a:rPr sz="1500" b="1">
                <a:solidFill>
                  <a:srgbClr val="123B3A"/>
                </a:solidFill>
              </a:rPr>
              <a:t>Transaction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AB0A9-84F1-4285-9FCC-603DFD9E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6462"/>
                </a:solidFill>
              </a:defRPr>
            </a:pPr>
            <a:r>
              <a:rPr sz="1350" b="0">
                <a:solidFill>
                  <a:srgbClr val="4B6462"/>
                </a:solidFill>
              </a:rPr>
              <a:t>Link order, delivery, invoice and partial payment with provenance.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3F2EA-45CF-4A4F-AA07-38E7D3B9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7706E"/>
                </a:solidFill>
              </a:defRPr>
            </a:pPr>
            <a:r>
              <a:rPr sz="1050" b="0">
                <a:solidFill>
                  <a:srgbClr val="57706E"/>
                </a:solidFill>
              </a:rPr>
              <a:t>Decision owner: Naledi Mokoena • Evidence pack: MIG-ORGNI-HARDTEST-2026-01</a:t>
            </a:r>
          </a:p>
        </p:txBody>
      </p:sp>
    </p:spTree>
    <p:extLst>
      <p:ext uri="{BB962C8B-B14F-4D97-AF65-F5344CB8AC3E}">
        <p14:creationId xmlns:p14="http://schemas.microsoft.com/office/powerpoint/2010/main" val="1813082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2026-07-28T00:57:19.6630000Z</dcterms:created>
  <dcterms:modified xsi:type="dcterms:W3CDTF">2026-07-28T00:57:19.6640000Z</dcterms:modified>
</coreProperties>
</file>